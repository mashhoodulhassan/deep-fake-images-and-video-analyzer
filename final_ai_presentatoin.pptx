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fntdata" ContentType="application/x-fontdata"/>
  <Default Extension="png" ContentType="image/png"/>
  <Default Extension="svg" ContentType="image/svg+xml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5af7c1eb6454083" /><Relationship Type="http://schemas.openxmlformats.org/package/2006/relationships/metadata/core-properties" Target="/docProps/core.xml" Id="Re1abeb4ee8c04736" /><Relationship Type="http://schemas.openxmlformats.org/officeDocument/2006/relationships/extended-properties" Target="/docProps/app.xml" Id="R12e65141f21a44c0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483fca8665684de9"/>
  </p:sldMasterIdLst>
  <p:notesMasterIdLst>
    <p:notesMasterId r:id="Rb0ae3dc7862340ac"/>
  </p:notesMasterIdLst>
  <p:sldIdLst>
    <p:sldId id="256" r:id="R869fd189e2e84259"/>
    <p:sldId id="257" r:id="Rcb04b8a2b710426f"/>
    <p:sldId id="258" r:id="Reee2859aeb374a9e"/>
    <p:sldId id="259" r:id="R90cfed37e3cc4f12"/>
    <p:sldId id="260" r:id="R87b2b07fdde04c6b"/>
    <p:sldId id="261" r:id="R897ef2ddf9124a84"/>
    <p:sldId id="262" r:id="Rd0a40df99e78490d"/>
    <p:sldId id="263" r:id="Rf8792a74b83a4c00"/>
    <p:sldId id="264" r:id="R0afaaaae314c4aec"/>
    <p:sldId id="265" r:id="R9c4d3c6e2259480f"/>
    <p:sldId id="266" r:id="R62afd86e3cfa4641"/>
    <p:sldId id="267" r:id="Rae3ee248ed7544fc"/>
    <p:sldId id="268" r:id="R9afc4b4340e1494a"/>
    <p:sldId id="269" r:id="R8a9dde2300c0465e"/>
    <p:sldId id="270" r:id="R7daca11915b94900"/>
    <p:sldId id="271" r:id="R14bb0a4499b24890"/>
    <p:sldId id="272" r:id="R3f5f5025d2ec4609"/>
  </p:sldIdLst>
  <p:sldSz cx="14630400" cy="8229600"/>
  <p:notesSz cx="8229600" cy="14630400"/>
  <p:embeddedFontLst>
    <p:embeddedFont>
      <p:font typeface="Outfit"/>
      <p:regular r:id="rcId105c5e3c8e3f421d"/>
    </p:embeddedFont>
    <p:embeddedFont>
      <p:font typeface="Outfit"/>
      <p:regular r:id="rcIdec27bd3d40ee417e"/>
    </p:embeddedFont>
    <p:embeddedFont>
      <p:font typeface="Bitter"/>
      <p:regular r:id="rcId5e58b3783fd54804"/>
    </p:embeddedFont>
    <p:embeddedFont>
      <p:font typeface="Bitter"/>
      <p:regular r:id="rcId6829a73e5c87481f"/>
    </p:embeddedFont>
    <p:embeddedFont>
      <p:font typeface="Bitter"/>
      <p:regular r:id="rcIdc320e67de9924004"/>
    </p:embeddedFont>
    <p:embeddedFont>
      <p:font typeface="Bitter"/>
      <p:regular r:id="rcId8462127cc09e4fb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font" Target="/ppt/fonts/font.fntdata" Id="rcId105c5e3c8e3f421d" /><Relationship Type="http://schemas.openxmlformats.org/officeDocument/2006/relationships/font" Target="/ppt/fonts/font2.fntdata" Id="rcIdec27bd3d40ee417e" /><Relationship Type="http://schemas.openxmlformats.org/officeDocument/2006/relationships/font" Target="/ppt/fonts/font3.fntdata" Id="rcId5e58b3783fd54804" /><Relationship Type="http://schemas.openxmlformats.org/officeDocument/2006/relationships/font" Target="/ppt/fonts/font4.fntdata" Id="rcId6829a73e5c87481f" /><Relationship Type="http://schemas.openxmlformats.org/officeDocument/2006/relationships/font" Target="/ppt/fonts/font5.fntdata" Id="rcIdc320e67de9924004" /><Relationship Type="http://schemas.openxmlformats.org/officeDocument/2006/relationships/font" Target="/ppt/fonts/font6.fntdata" Id="rcId8462127cc09e4fb3" /><Relationship Type="http://schemas.openxmlformats.org/officeDocument/2006/relationships/notesMaster" Target="/ppt/notesMasters/notesMaster1.xml" Id="Rb0ae3dc7862340ac" /><Relationship Type="http://schemas.openxmlformats.org/officeDocument/2006/relationships/presProps" Target="/ppt/presProps.xml" Id="Ra347914414f847f4" /><Relationship Type="http://schemas.openxmlformats.org/officeDocument/2006/relationships/viewProps" Target="/ppt/viewProps.xml" Id="Rb076bbcdb7f24f2a" /><Relationship Type="http://schemas.openxmlformats.org/officeDocument/2006/relationships/slideMaster" Target="/ppt/slideMasters/slideMaster1.xml" Id="R483fca8665684de9" /><Relationship Type="http://schemas.openxmlformats.org/officeDocument/2006/relationships/theme" Target="/ppt/slideMasters/theme/theme2.xml" Id="Rcbbd7f9effe54435" /><Relationship Type="http://schemas.openxmlformats.org/officeDocument/2006/relationships/slide" Target="/ppt/slides/slide1.xml" Id="R869fd189e2e84259" /><Relationship Type="http://schemas.openxmlformats.org/officeDocument/2006/relationships/slide" Target="/ppt/slides/slide2.xml" Id="Rcb04b8a2b710426f" /><Relationship Type="http://schemas.openxmlformats.org/officeDocument/2006/relationships/slide" Target="/ppt/slides/slide3.xml" Id="Reee2859aeb374a9e" /><Relationship Type="http://schemas.openxmlformats.org/officeDocument/2006/relationships/slide" Target="/ppt/slides/slide4.xml" Id="R90cfed37e3cc4f12" /><Relationship Type="http://schemas.openxmlformats.org/officeDocument/2006/relationships/slide" Target="/ppt/slides/slide5.xml" Id="R87b2b07fdde04c6b" /><Relationship Type="http://schemas.openxmlformats.org/officeDocument/2006/relationships/slide" Target="/ppt/slides/slide6.xml" Id="R897ef2ddf9124a84" /><Relationship Type="http://schemas.openxmlformats.org/officeDocument/2006/relationships/slide" Target="/ppt/slides/slide7.xml" Id="Rd0a40df99e78490d" /><Relationship Type="http://schemas.openxmlformats.org/officeDocument/2006/relationships/slide" Target="/ppt/slides/slide8.xml" Id="Rf8792a74b83a4c00" /><Relationship Type="http://schemas.openxmlformats.org/officeDocument/2006/relationships/slide" Target="/ppt/slides/slide9.xml" Id="R0afaaaae314c4aec" /><Relationship Type="http://schemas.openxmlformats.org/officeDocument/2006/relationships/slide" Target="/ppt/slides/slide10.xml" Id="R9c4d3c6e2259480f" /><Relationship Type="http://schemas.openxmlformats.org/officeDocument/2006/relationships/slide" Target="/ppt/slides/slide11.xml" Id="R62afd86e3cfa4641" /><Relationship Type="http://schemas.openxmlformats.org/officeDocument/2006/relationships/slide" Target="/ppt/slides/slide12.xml" Id="Rae3ee248ed7544fc" /><Relationship Type="http://schemas.openxmlformats.org/officeDocument/2006/relationships/slide" Target="/ppt/slides/slide13.xml" Id="R9afc4b4340e1494a" /><Relationship Type="http://schemas.openxmlformats.org/officeDocument/2006/relationships/slide" Target="/ppt/slides/slide14.xml" Id="R8a9dde2300c0465e" /><Relationship Type="http://schemas.openxmlformats.org/officeDocument/2006/relationships/slide" Target="/ppt/slides/slide15.xml" Id="R7daca11915b94900" /><Relationship Type="http://schemas.openxmlformats.org/officeDocument/2006/relationships/slide" Target="/ppt/slides/slide16.xml" Id="R14bb0a4499b24890" /><Relationship Type="http://schemas.openxmlformats.org/officeDocument/2006/relationships/slide" Target="/ppt/slides/slide17.xml" Id="R3f5f5025d2ec46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89c723e55eaf452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9b77439c434500" /><Relationship Type="http://schemas.openxmlformats.org/officeDocument/2006/relationships/notesMaster" Target="/ppt/notesMasters/notesMaster1.xml" Id="R3622e11f0b7e4d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109d32b38e4e0a" /><Relationship Type="http://schemas.openxmlformats.org/officeDocument/2006/relationships/notesMaster" Target="/ppt/notesMasters/notesMaster1.xml" Id="R433092e2c4854a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353f74fdcd44fe" /><Relationship Type="http://schemas.openxmlformats.org/officeDocument/2006/relationships/notesMaster" Target="/ppt/notesMasters/notesMaster1.xml" Id="R8413150ef0e142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64b8b7687a48dc" /><Relationship Type="http://schemas.openxmlformats.org/officeDocument/2006/relationships/notesMaster" Target="/ppt/notesMasters/notesMaster1.xml" Id="R4d50a671287d4d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1a79eac36541c1" /><Relationship Type="http://schemas.openxmlformats.org/officeDocument/2006/relationships/notesMaster" Target="/ppt/notesMasters/notesMaster1.xml" Id="R1dd9e363bb0043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2ccbccefb84673" /><Relationship Type="http://schemas.openxmlformats.org/officeDocument/2006/relationships/notesMaster" Target="/ppt/notesMasters/notesMaster1.xml" Id="Rbe4371f2556745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66f47404984654" /><Relationship Type="http://schemas.openxmlformats.org/officeDocument/2006/relationships/notesMaster" Target="/ppt/notesMasters/notesMaster1.xml" Id="Rf564e27416df49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9cef313d23424f" /><Relationship Type="http://schemas.openxmlformats.org/officeDocument/2006/relationships/notesMaster" Target="/ppt/notesMasters/notesMaster1.xml" Id="R94e15627d9e74e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cf1799ac884511" /><Relationship Type="http://schemas.openxmlformats.org/officeDocument/2006/relationships/notesMaster" Target="/ppt/notesMasters/notesMaster1.xml" Id="R99c58325854746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50ef9e38464943" /><Relationship Type="http://schemas.openxmlformats.org/officeDocument/2006/relationships/notesMaster" Target="/ppt/notesMasters/notesMaster1.xml" Id="R1e96673830fc44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55493514cd48fa" /><Relationship Type="http://schemas.openxmlformats.org/officeDocument/2006/relationships/notesMaster" Target="/ppt/notesMasters/notesMaster1.xml" Id="R44b38b99b7cf46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6f0a669e05488e" /><Relationship Type="http://schemas.openxmlformats.org/officeDocument/2006/relationships/notesMaster" Target="/ppt/notesMasters/notesMaster1.xml" Id="Ra72420cc66304f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05fb1f57e64497" /><Relationship Type="http://schemas.openxmlformats.org/officeDocument/2006/relationships/notesMaster" Target="/ppt/notesMasters/notesMaster1.xml" Id="Re506f07feb6c4d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5aa1bc38a44a78" /><Relationship Type="http://schemas.openxmlformats.org/officeDocument/2006/relationships/notesMaster" Target="/ppt/notesMasters/notesMaster1.xml" Id="Rf4a5c9ef3f094d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3e6d424de84e2c" /><Relationship Type="http://schemas.openxmlformats.org/officeDocument/2006/relationships/notesMaster" Target="/ppt/notesMasters/notesMaster1.xml" Id="Rd65ad260a02f4b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77971f5eeb4687" /><Relationship Type="http://schemas.openxmlformats.org/officeDocument/2006/relationships/notesMaster" Target="/ppt/notesMasters/notesMaster1.xml" Id="R0607264d7328418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65535ec38f47bb" /><Relationship Type="http://schemas.openxmlformats.org/officeDocument/2006/relationships/notesMaster" Target="/ppt/notesMasters/notesMaster1.xml" Id="R51bbef3951ba4bb7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b727aea9d4469" /><Relationship Type="http://schemas.openxmlformats.org/officeDocument/2006/relationships/image" Target="/ppt/media/image.png" Id="R0e8d2bc9916d49db" /><Relationship Type="http://schemas.openxmlformats.org/officeDocument/2006/relationships/hyperlink" Target="https://gamma.app/?utm_source=made-with-gamma" TargetMode="External" Id="rcIde87451a6107c4c8d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cIde87451a6107c4c8d" tooltip=""/>
          </p:cNvPr>
          <p:cNvPicPr>
            <a:picLocks noChangeAspect="1"/>
          </p:cNvPicPr>
          <p:nvPr/>
        </p:nvPicPr>
        <p:blipFill>
          <a:blip r:embed="R0e8d2bc9916d49db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82e45f06a34da1" /><Relationship Type="http://schemas.openxmlformats.org/officeDocument/2006/relationships/slideLayout" Target="/ppt/slideLayouts/slideLayout2.xml" Id="R4c5f3ada59d54c9d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4c5f3ada59d54c9d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png" Id="R4a2aa4dbd951427c" /><Relationship Type="http://schemas.openxmlformats.org/officeDocument/2006/relationships/notesSlide" Target="/ppt/notesSlides/notesSlide1.xml" Id="Rfd51a5a4043b4b8c" /><Relationship Type="http://schemas.openxmlformats.org/officeDocument/2006/relationships/slideLayout" Target="/ppt/slideLayouts/slideLayout2.xml" Id="R9c7e90a26ae347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3.png" Id="R3ba529e749e547c7" /><Relationship Type="http://schemas.openxmlformats.org/officeDocument/2006/relationships/notesSlide" Target="/ppt/notesSlides/notesSlide2.xml" Id="R4f4be8e7a73c4a82" /><Relationship Type="http://schemas.openxmlformats.org/officeDocument/2006/relationships/slideLayout" Target="/ppt/slideLayouts/slideLayout2.xml" Id="Re2ca896745ba44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4.png" Id="R7e38490d67714de0" /><Relationship Type="http://schemas.openxmlformats.org/officeDocument/2006/relationships/notesSlide" Target="/ppt/notesSlides/notesSlide3.xml" Id="Rb4ccf91205a44b09" /><Relationship Type="http://schemas.openxmlformats.org/officeDocument/2006/relationships/slideLayout" Target="/ppt/slideLayouts/slideLayout2.xml" Id="R15636d521fae4d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5.png" Id="R2dea3fabab624bab" /><Relationship Type="http://schemas.openxmlformats.org/officeDocument/2006/relationships/image" Target="/ppt/media/image.svg" Id="R415e665197dc4702" /><Relationship Type="http://schemas.openxmlformats.org/officeDocument/2006/relationships/image" Target="/ppt/media/image2.svg" Id="R914aba6028f541a2" /><Relationship Type="http://schemas.openxmlformats.org/officeDocument/2006/relationships/image" Target="/ppt/media/image3.svg" Id="R3f02c5334c8346b3" /><Relationship Type="http://schemas.openxmlformats.org/officeDocument/2006/relationships/image" Target="/ppt/media/image4.svg" Id="R2577cfd4f7e8446c" /><Relationship Type="http://schemas.openxmlformats.org/officeDocument/2006/relationships/notesSlide" Target="/ppt/notesSlides/notesSlide4.xml" Id="R4b7c6cdea37b446f" /><Relationship Type="http://schemas.openxmlformats.org/officeDocument/2006/relationships/slideLayout" Target="/ppt/slideLayouts/slideLayout2.xml" Id="R60b1b8265fb144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6.png" Id="R46c9c5cd9bcb47aa" /><Relationship Type="http://schemas.openxmlformats.org/officeDocument/2006/relationships/image" Target="/ppt/media/image5.png" Id="Rc7e64231c1124524" /><Relationship Type="http://schemas.openxmlformats.org/officeDocument/2006/relationships/image" Target="/ppt/media/image5.svg" Id="R433c735ef68d4f77" /><Relationship Type="http://schemas.openxmlformats.org/officeDocument/2006/relationships/notesSlide" Target="/ppt/notesSlides/notesSlide5.xml" Id="Ra7932b49db4a432b" /><Relationship Type="http://schemas.openxmlformats.org/officeDocument/2006/relationships/slideLayout" Target="/ppt/slideLayouts/slideLayout2.xml" Id="Rf94d875ac2da4d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7.png" Id="Rbfde62b2293848c8" /><Relationship Type="http://schemas.openxmlformats.org/officeDocument/2006/relationships/image" Target="/ppt/media/image8.png" Id="R7e79e19a4b694be2" /><Relationship Type="http://schemas.openxmlformats.org/officeDocument/2006/relationships/image" Target="/ppt/media/image9.png" Id="R8ca0dd1ed59a4576" /><Relationship Type="http://schemas.openxmlformats.org/officeDocument/2006/relationships/image" Target="/ppt/media/image10.png" Id="Rb20110512680457f" /><Relationship Type="http://schemas.openxmlformats.org/officeDocument/2006/relationships/image" Target="/ppt/media/image11.png" Id="R37cbd7bde105404c" /><Relationship Type="http://schemas.openxmlformats.org/officeDocument/2006/relationships/notesSlide" Target="/ppt/notesSlides/notesSlide6.xml" Id="R78593ed4f7f04532" /><Relationship Type="http://schemas.openxmlformats.org/officeDocument/2006/relationships/slideLayout" Target="/ppt/slideLayouts/slideLayout2.xml" Id="Rccd53c113c564f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2.png" Id="R6c1ef5f37bad403b" /><Relationship Type="http://schemas.openxmlformats.org/officeDocument/2006/relationships/image" Target="/ppt/media/image5.png" Id="R5815754a0fae4120" /><Relationship Type="http://schemas.openxmlformats.org/officeDocument/2006/relationships/image" Target="/ppt/media/image6.svg" Id="Rc08582d3a3964992" /><Relationship Type="http://schemas.openxmlformats.org/officeDocument/2006/relationships/image" Target="/ppt/media/image7.svg" Id="R85ae5d9b4cd9478c" /><Relationship Type="http://schemas.openxmlformats.org/officeDocument/2006/relationships/image" Target="/ppt/media/image8.svg" Id="Redc4ed6bdec64b92" /><Relationship Type="http://schemas.openxmlformats.org/officeDocument/2006/relationships/image" Target="/ppt/media/image9.svg" Id="Rc9c5ad05ef6e4377" /><Relationship Type="http://schemas.openxmlformats.org/officeDocument/2006/relationships/notesSlide" Target="/ppt/notesSlides/notesSlide7.xml" Id="Rb3321b99b6b34585" /><Relationship Type="http://schemas.openxmlformats.org/officeDocument/2006/relationships/slideLayout" Target="/ppt/slideLayouts/slideLayout2.xml" Id="R10bdbd1bdb5a49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3.png" Id="Rb6c59a98bbba4eb2" /><Relationship Type="http://schemas.openxmlformats.org/officeDocument/2006/relationships/image" Target="/ppt/media/image14.png" Id="Raf1abf98861b4430" /><Relationship Type="http://schemas.openxmlformats.org/officeDocument/2006/relationships/notesSlide" Target="/ppt/notesSlides/notesSlide8.xml" Id="R148c4ee2f1b74fe2" /><Relationship Type="http://schemas.openxmlformats.org/officeDocument/2006/relationships/slideLayout" Target="/ppt/slideLayouts/slideLayout2.xml" Id="Ra77868c6bd2947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5.png" Id="R684c98a25d28442e" /><Relationship Type="http://schemas.openxmlformats.org/officeDocument/2006/relationships/notesSlide" Target="/ppt/notesSlides/notesSlide9.xml" Id="Rb4615555c9b64436" /><Relationship Type="http://schemas.openxmlformats.org/officeDocument/2006/relationships/slideLayout" Target="/ppt/slideLayouts/slideLayout2.xml" Id="R92a1d3c9bd1741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6.png" Id="Re7052f7838684a78" /><Relationship Type="http://schemas.openxmlformats.org/officeDocument/2006/relationships/image" Target="/ppt/media/image5.png" Id="R52d3bf4fb37b4e09" /><Relationship Type="http://schemas.openxmlformats.org/officeDocument/2006/relationships/image" Target="/ppt/media/image10.svg" Id="Rab57a6d972df4efe" /><Relationship Type="http://schemas.openxmlformats.org/officeDocument/2006/relationships/image" Target="/ppt/media/image7.svg" Id="R2686c22ba93b427b" /><Relationship Type="http://schemas.openxmlformats.org/officeDocument/2006/relationships/image" Target="/ppt/media/image11.svg" Id="Re959eb85a85d4e45" /><Relationship Type="http://schemas.openxmlformats.org/officeDocument/2006/relationships/image" Target="/ppt/media/image8.svg" Id="R6073926fb4364839" /><Relationship Type="http://schemas.openxmlformats.org/officeDocument/2006/relationships/image" Target="/ppt/media/image9.svg" Id="Rf3556d6788cc44e9" /><Relationship Type="http://schemas.openxmlformats.org/officeDocument/2006/relationships/notesSlide" Target="/ppt/notesSlides/notesSlide10.xml" Id="R421a957a927447ff" /><Relationship Type="http://schemas.openxmlformats.org/officeDocument/2006/relationships/slideLayout" Target="/ppt/slideLayouts/slideLayout2.xml" Id="Re07cc223c33c4c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17.png" Id="Rf41e9be76a674821" /><Relationship Type="http://schemas.openxmlformats.org/officeDocument/2006/relationships/notesSlide" Target="/ppt/notesSlides/notesSlide11.xml" Id="Rc607ac85db77457f" /><Relationship Type="http://schemas.openxmlformats.org/officeDocument/2006/relationships/slideLayout" Target="/ppt/slideLayouts/slideLayout2.xml" Id="R4af0a0ff787e4f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8.png" Id="Re1f740c1ffea4cae" /><Relationship Type="http://schemas.openxmlformats.org/officeDocument/2006/relationships/image" Target="/ppt/media/image5.png" Id="R1c2e06df91c84336" /><Relationship Type="http://schemas.openxmlformats.org/officeDocument/2006/relationships/image" Target="/ppt/media/image12.svg" Id="R59f6b968b90848bb" /><Relationship Type="http://schemas.openxmlformats.org/officeDocument/2006/relationships/image" Target="/ppt/media/image13.svg" Id="R2129c437689c4f35" /><Relationship Type="http://schemas.openxmlformats.org/officeDocument/2006/relationships/image" Target="/ppt/media/image14.svg" Id="Rb82bf2e452ec4261" /><Relationship Type="http://schemas.openxmlformats.org/officeDocument/2006/relationships/image" Target="/ppt/media/image15.svg" Id="Ree74f494e8034706" /><Relationship Type="http://schemas.openxmlformats.org/officeDocument/2006/relationships/notesSlide" Target="/ppt/notesSlides/notesSlide12.xml" Id="Rfb88209784c84017" /><Relationship Type="http://schemas.openxmlformats.org/officeDocument/2006/relationships/slideLayout" Target="/ppt/slideLayouts/slideLayout2.xml" Id="Ra4d618e0bc8c43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19.png" Id="R42abf960ccf749fe" /><Relationship Type="http://schemas.openxmlformats.org/officeDocument/2006/relationships/image" Target="/ppt/media/image20.png" Id="R46cbb8e056874b0e" /><Relationship Type="http://schemas.openxmlformats.org/officeDocument/2006/relationships/image" Target="/ppt/media/image21.png" Id="R0c0f0a4fa2b04a1c" /><Relationship Type="http://schemas.openxmlformats.org/officeDocument/2006/relationships/notesSlide" Target="/ppt/notesSlides/notesSlide13.xml" Id="Racad6ff485264e1b" /><Relationship Type="http://schemas.openxmlformats.org/officeDocument/2006/relationships/slideLayout" Target="/ppt/slideLayouts/slideLayout2.xml" Id="Read3618d2b8c46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22.png" Id="R3bdb17c677a64101" /><Relationship Type="http://schemas.openxmlformats.org/officeDocument/2006/relationships/notesSlide" Target="/ppt/notesSlides/notesSlide14.xml" Id="R91af7cd4a89d444b" /><Relationship Type="http://schemas.openxmlformats.org/officeDocument/2006/relationships/slideLayout" Target="/ppt/slideLayouts/slideLayout2.xml" Id="R20bd0a63f62443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23.png" Id="R0751d5caa26f49b9" /><Relationship Type="http://schemas.openxmlformats.org/officeDocument/2006/relationships/notesSlide" Target="/ppt/notesSlides/notesSlide15.xml" Id="R1adc9b1acbab41f1" /><Relationship Type="http://schemas.openxmlformats.org/officeDocument/2006/relationships/slideLayout" Target="/ppt/slideLayouts/slideLayout2.xml" Id="Rf50d164e81c84a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notesSlide" Target="/ppt/notesSlides/notesSlide16.xml" Id="Rfd30eebf2ddd4a64" /><Relationship Type="http://schemas.openxmlformats.org/officeDocument/2006/relationships/slideLayout" Target="/ppt/slideLayouts/slideLayout2.xml" Id="R02ec9411cf3a4a4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24.png" Id="Re76876cec70045fe" /><Relationship Type="http://schemas.openxmlformats.org/officeDocument/2006/relationships/notesSlide" Target="/ppt/notesSlides/notesSlide17.xml" Id="Ra3149c31044e41a6" /><Relationship Type="http://schemas.openxmlformats.org/officeDocument/2006/relationships/slideLayout" Target="/ppt/slideLayouts/slideLayout2.xml" Id="R6d023824eb884c5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4a2aa4dbd951427c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61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Deepfake Image &amp; Video Analyzer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638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AI-Based Fake Media Detection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using CNN – MobileNetV2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089565"/>
            <a:ext cx="2735223" cy="426244"/>
          </a:xfrm>
          <a:prstGeom prst="roundRect">
            <a:avLst>
              <a:gd name="adj" fmla="val 6386"/>
            </a:avLst>
          </a:prstGeom>
          <a:solidFill>
            <a:srgbClr val="2A2C20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5157549"/>
            <a:ext cx="246304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FINAL YEAR PROJECT · PART 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42360" y="5081945"/>
            <a:ext cx="3682722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9FA5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86068" y="5157549"/>
            <a:ext cx="339530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SUBMITTED TO: KNOWLEDGE STREAMS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3ba529e749e547c7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1016" y="692944"/>
            <a:ext cx="4198263" cy="524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Introduction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221016" y="1508998"/>
            <a:ext cx="7674769" cy="1879759"/>
          </a:xfrm>
          <a:prstGeom prst="roundRect">
            <a:avLst>
              <a:gd name="adj" fmla="val 583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156" y="1508998"/>
            <a:ext cx="91440" cy="1879759"/>
          </a:xfrm>
          <a:prstGeom prst="roundRect">
            <a:avLst>
              <a:gd name="adj" fmla="val 34435"/>
            </a:avLst>
          </a:prstGeom>
          <a:solidFill>
            <a:srgbClr val="9FA582"/>
          </a:solidFill>
          <a:ln/>
        </p:spPr>
      </p:sp>
      <p:sp>
        <p:nvSpPr>
          <p:cNvPr id="6" name="Text 3"/>
          <p:cNvSpPr/>
          <p:nvPr/>
        </p:nvSpPr>
        <p:spPr>
          <a:xfrm>
            <a:off x="6522363" y="1741765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are Deepfakes?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522363" y="2186226"/>
            <a:ext cx="7140654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Deepfakes are synthetic media — images, videos, or audio — generated using AI that convincingly depict people saying or doing things they never actually did.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21016" y="3582948"/>
            <a:ext cx="7674769" cy="1879759"/>
          </a:xfrm>
          <a:prstGeom prst="roundRect">
            <a:avLst>
              <a:gd name="adj" fmla="val 583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98156" y="3582948"/>
            <a:ext cx="91440" cy="1879759"/>
          </a:xfrm>
          <a:prstGeom prst="roundRect">
            <a:avLst>
              <a:gd name="adj" fmla="val 34435"/>
            </a:avLst>
          </a:prstGeom>
          <a:solidFill>
            <a:srgbClr val="9FA582"/>
          </a:solidFill>
          <a:ln/>
        </p:spPr>
      </p:sp>
      <p:sp>
        <p:nvSpPr>
          <p:cNvPr id="10" name="Text 7"/>
          <p:cNvSpPr/>
          <p:nvPr/>
        </p:nvSpPr>
        <p:spPr>
          <a:xfrm>
            <a:off x="6522363" y="3815715"/>
            <a:ext cx="3870246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Rise of AI-Generated Media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6522363" y="4260175"/>
            <a:ext cx="7140654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With the democratization of generative AI tools, creating realistic fake content has become accessible to non-experts, accelerating the spread of misinformation.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221016" y="5656898"/>
            <a:ext cx="7674769" cy="1879759"/>
          </a:xfrm>
          <a:prstGeom prst="roundRect">
            <a:avLst>
              <a:gd name="adj" fmla="val 583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98156" y="5656898"/>
            <a:ext cx="91440" cy="1879759"/>
          </a:xfrm>
          <a:prstGeom prst="roundRect">
            <a:avLst>
              <a:gd name="adj" fmla="val 34435"/>
            </a:avLst>
          </a:prstGeom>
          <a:solidFill>
            <a:srgbClr val="9FA582"/>
          </a:solidFill>
          <a:ln/>
        </p:spPr>
      </p:sp>
      <p:sp>
        <p:nvSpPr>
          <p:cNvPr id="14" name="Text 11"/>
          <p:cNvSpPr/>
          <p:nvPr/>
        </p:nvSpPr>
        <p:spPr>
          <a:xfrm>
            <a:off x="6522363" y="5889665"/>
            <a:ext cx="2797135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Why Detection Matters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522363" y="6334125"/>
            <a:ext cx="7140654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Unchecked deepfakes threaten journalism, legal evidence, personal reputation, and national security — making reliable automated detection critical.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14205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Problem Statement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7e38490d67714de0"/>
          <a:stretch>
            <a:fillRect/>
          </a:stretch>
        </p:blipFill>
        <p:spPr>
          <a:xfrm>
            <a:off x="1446014" y="2334339"/>
            <a:ext cx="7484507" cy="41773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53193" y="2180630"/>
            <a:ext cx="382667" cy="382667"/>
          </a:xfrm>
          <a:prstGeom prst="roundRect">
            <a:avLst>
              <a:gd name="adj" fmla="val 6669"/>
            </a:avLst>
          </a:prstGeom>
          <a:solidFill>
            <a:srgbClr val="3B3C3E"/>
          </a:solidFill>
          <a:ln/>
        </p:spPr>
      </p:sp>
      <p:sp>
        <p:nvSpPr>
          <p:cNvPr id="5" name="Text 2"/>
          <p:cNvSpPr/>
          <p:nvPr/>
        </p:nvSpPr>
        <p:spPr>
          <a:xfrm>
            <a:off x="9863376" y="2239089"/>
            <a:ext cx="305871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Human Detection is Inadequate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863376" y="2632353"/>
            <a:ext cx="3328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Modern deepfakes are visually indistinguishable from real media — even trained experts struggle to identify manipulation reliably.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353193" y="3840004"/>
            <a:ext cx="382667" cy="382667"/>
          </a:xfrm>
          <a:prstGeom prst="roundRect">
            <a:avLst>
              <a:gd name="adj" fmla="val 6669"/>
            </a:avLst>
          </a:prstGeom>
          <a:solidFill>
            <a:srgbClr val="3B3C3E"/>
          </a:solidFill>
          <a:ln/>
        </p:spPr>
      </p:sp>
      <p:sp>
        <p:nvSpPr>
          <p:cNvPr id="8" name="Text 5"/>
          <p:cNvSpPr/>
          <p:nvPr/>
        </p:nvSpPr>
        <p:spPr>
          <a:xfrm>
            <a:off x="9863376" y="389846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Widespread Misuse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863376" y="4291727"/>
            <a:ext cx="332839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Deepfake technology is exploited for political disinformation, financial fraud, non-consensual imagery, and identity theft.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353193" y="5499378"/>
            <a:ext cx="382667" cy="382667"/>
          </a:xfrm>
          <a:prstGeom prst="roundRect">
            <a:avLst>
              <a:gd name="adj" fmla="val 6669"/>
            </a:avLst>
          </a:prstGeom>
          <a:solidFill>
            <a:srgbClr val="3B3C3E"/>
          </a:solidFill>
          <a:ln/>
        </p:spPr>
      </p:sp>
      <p:sp>
        <p:nvSpPr>
          <p:cNvPr id="11" name="Text 8"/>
          <p:cNvSpPr/>
          <p:nvPr/>
        </p:nvSpPr>
        <p:spPr>
          <a:xfrm>
            <a:off x="9863376" y="5557838"/>
            <a:ext cx="288190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 Accessible Detection Tools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863376" y="5951101"/>
            <a:ext cx="332839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Existing solutions are either research-grade only or lack a simple, user-friendly interface for real-world deployment.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7459"/>
            <a:ext cx="4515564" cy="56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Project Objectives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0218" y="1641396"/>
            <a:ext cx="13049964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This system is designed to deliver a complete, production-ready deepfake detection pipeline with interpretable outputs.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0218" y="2254448"/>
            <a:ext cx="6412587" cy="2561511"/>
          </a:xfrm>
          <a:prstGeom prst="roundRect">
            <a:avLst>
              <a:gd name="adj" fmla="val 1322"/>
            </a:avLst>
          </a:prstGeom>
          <a:solidFill>
            <a:srgbClr val="3B3C3E"/>
          </a:solidFill>
          <a:ln/>
        </p:spPr>
      </p:sp>
      <p:sp>
        <p:nvSpPr>
          <p:cNvPr id="5" name="Shape 3"/>
          <p:cNvSpPr/>
          <p:nvPr/>
        </p:nvSpPr>
        <p:spPr>
          <a:xfrm>
            <a:off x="1015960" y="2480191"/>
            <a:ext cx="677347" cy="677347"/>
          </a:xfrm>
          <a:prstGeom prst="roundRect">
            <a:avLst>
              <a:gd name="adj" fmla="val 13498378"/>
            </a:avLst>
          </a:prstGeom>
          <a:solidFill>
            <a:srgbClr val="9FA5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2dea3fabab624bab">
            <a:extLst>
              <a:ext uri="{96DAC541-7B7A-43D3-8B79-37D633B846F1}">
                <asvg:svgBlip xmlns:asvg="http://schemas.microsoft.com/office/drawing/2016/SVG/main" r:embed="R415e665197dc4702"/>
              </a:ext>
            </a:extLst>
          </a:blip>
          <a:stretch>
            <a:fillRect/>
          </a:stretch>
        </p:blipFill>
        <p:spPr>
          <a:xfrm>
            <a:off x="1202174" y="2666405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960" y="3382208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Image Detection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15960" y="3869650"/>
            <a:ext cx="5961102" cy="72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Classify input images as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 or fake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with high accuracy using a pretrained CNN backbone.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7476" y="2254448"/>
            <a:ext cx="6412706" cy="2561511"/>
          </a:xfrm>
          <a:prstGeom prst="roundRect">
            <a:avLst>
              <a:gd name="adj" fmla="val 1322"/>
            </a:avLst>
          </a:prstGeom>
          <a:solidFill>
            <a:srgbClr val="3B3C3E"/>
          </a:solidFill>
          <a:ln/>
        </p:spPr>
      </p:sp>
      <p:sp>
        <p:nvSpPr>
          <p:cNvPr id="10" name="Shape 7"/>
          <p:cNvSpPr/>
          <p:nvPr/>
        </p:nvSpPr>
        <p:spPr>
          <a:xfrm>
            <a:off x="7653218" y="2480191"/>
            <a:ext cx="677347" cy="677347"/>
          </a:xfrm>
          <a:prstGeom prst="roundRect">
            <a:avLst>
              <a:gd name="adj" fmla="val 13498378"/>
            </a:avLst>
          </a:prstGeom>
          <a:solidFill>
            <a:srgbClr val="9FA5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2dea3fabab624bab">
            <a:extLst>
              <a:ext uri="{96DAC541-7B7A-43D3-8B79-37D633B846F1}">
                <asvg:svgBlip xmlns:asvg="http://schemas.microsoft.com/office/drawing/2016/SVG/main" r:embed="R914aba6028f541a2"/>
              </a:ext>
            </a:extLst>
          </a:blip>
          <a:stretch>
            <a:fillRect/>
          </a:stretch>
        </p:blipFill>
        <p:spPr>
          <a:xfrm>
            <a:off x="7839432" y="2666405"/>
            <a:ext cx="304800" cy="30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3218" y="3382208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Video Detection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53218" y="3869650"/>
            <a:ext cx="5961221" cy="72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Analyze video frames sequentially to detect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manipulated video content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at scale.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90218" y="5040630"/>
            <a:ext cx="6412587" cy="2561511"/>
          </a:xfrm>
          <a:prstGeom prst="roundRect">
            <a:avLst>
              <a:gd name="adj" fmla="val 1322"/>
            </a:avLst>
          </a:prstGeom>
          <a:solidFill>
            <a:srgbClr val="3B3C3E"/>
          </a:solidFill>
          <a:ln/>
        </p:spPr>
      </p:sp>
      <p:sp>
        <p:nvSpPr>
          <p:cNvPr id="15" name="Shape 11"/>
          <p:cNvSpPr/>
          <p:nvPr/>
        </p:nvSpPr>
        <p:spPr>
          <a:xfrm>
            <a:off x="1015960" y="5266373"/>
            <a:ext cx="677347" cy="677347"/>
          </a:xfrm>
          <a:prstGeom prst="roundRect">
            <a:avLst>
              <a:gd name="adj" fmla="val 13498378"/>
            </a:avLst>
          </a:prstGeom>
          <a:solidFill>
            <a:srgbClr val="9FA5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2dea3fabab624bab">
            <a:extLst>
              <a:ext uri="{96DAC541-7B7A-43D3-8B79-37D633B846F1}">
                <asvg:svgBlip xmlns:asvg="http://schemas.microsoft.com/office/drawing/2016/SVG/main" r:embed="R3f02c5334c8346b3"/>
              </a:ext>
            </a:extLst>
          </a:blip>
          <a:stretch>
            <a:fillRect/>
          </a:stretch>
        </p:blipFill>
        <p:spPr>
          <a:xfrm>
            <a:off x="1202174" y="5452586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5960" y="616839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Confidence Score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015960" y="6655832"/>
            <a:ext cx="5961102" cy="72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Output a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probability score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indicating the model's certainty for each prediction.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427476" y="5040630"/>
            <a:ext cx="6412706" cy="2561511"/>
          </a:xfrm>
          <a:prstGeom prst="roundRect">
            <a:avLst>
              <a:gd name="adj" fmla="val 1322"/>
            </a:avLst>
          </a:prstGeom>
          <a:solidFill>
            <a:srgbClr val="3B3C3E"/>
          </a:solidFill>
          <a:ln/>
        </p:spPr>
      </p:sp>
      <p:sp>
        <p:nvSpPr>
          <p:cNvPr id="20" name="Shape 15"/>
          <p:cNvSpPr/>
          <p:nvPr/>
        </p:nvSpPr>
        <p:spPr>
          <a:xfrm>
            <a:off x="7653218" y="5266373"/>
            <a:ext cx="677347" cy="677347"/>
          </a:xfrm>
          <a:prstGeom prst="roundRect">
            <a:avLst>
              <a:gd name="adj" fmla="val 13498378"/>
            </a:avLst>
          </a:prstGeom>
          <a:solidFill>
            <a:srgbClr val="9FA5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2dea3fabab624bab">
            <a:extLst>
              <a:ext uri="{96DAC541-7B7A-43D3-8B79-37D633B846F1}">
                <asvg:svgBlip xmlns:asvg="http://schemas.microsoft.com/office/drawing/2016/SVG/main" r:embed="R2577cfd4f7e8446c"/>
              </a:ext>
            </a:extLst>
          </a:blip>
          <a:stretch>
            <a:fillRect/>
          </a:stretch>
        </p:blipFill>
        <p:spPr>
          <a:xfrm>
            <a:off x="7839432" y="5452586"/>
            <a:ext cx="304800" cy="3048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3218" y="6168390"/>
            <a:ext cx="2957751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Heatmap Visualization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653218" y="6655832"/>
            <a:ext cx="5961221" cy="72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Generate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Grad-CAM heatmaps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highlight manipulated regions within the media.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9134" y="595908"/>
            <a:ext cx="3938468" cy="492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Proposed System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46c9c5cd9bcb47aa"/>
          <a:stretch>
            <a:fillRect/>
          </a:stretch>
        </p:blipFill>
        <p:spPr>
          <a:xfrm>
            <a:off x="689134" y="1536859"/>
            <a:ext cx="8445698" cy="4713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2750" y="3074670"/>
            <a:ext cx="2461498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We Are Building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622750" y="3553063"/>
            <a:ext cx="4326017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 end-to-end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AI-powered deepfake detection system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that accepts both images and videos, processes them through a deep learning model, and returns an interpretable verdict.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c7e64231c1124524">
            <a:extLst>
              <a:ext uri="{96DAC541-7B7A-43D3-8B79-37D633B846F1}">
                <asvg:svgBlip xmlns:asvg="http://schemas.microsoft.com/office/drawing/2016/SVG/main" r:embed="R433c735ef68d4f77"/>
              </a:ext>
            </a:extLst>
          </a:blip>
          <a:stretch>
            <a:fillRect/>
          </a:stretch>
        </p:blipFill>
        <p:spPr>
          <a:xfrm>
            <a:off x="762953" y="6641366"/>
            <a:ext cx="295275" cy="2952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8976" y="6635234"/>
            <a:ext cx="3155871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CNN with Transfer Learning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328976" y="7045285"/>
            <a:ext cx="3635097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Leverages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MobileNetV2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pretrained on ImageNet for robust feature extraction.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c7e64231c1124524">
            <a:extLst>
              <a:ext uri="{96DAC541-7B7A-43D3-8B79-37D633B846F1}">
                <asvg:svgBlip xmlns:asvg="http://schemas.microsoft.com/office/drawing/2016/SVG/main" r:embed="R433c735ef68d4f77"/>
              </a:ext>
            </a:extLst>
          </a:blip>
          <a:stretch>
            <a:fillRect/>
          </a:stretch>
        </p:blipFill>
        <p:spPr>
          <a:xfrm>
            <a:off x="5251490" y="6641366"/>
            <a:ext cx="295275" cy="2952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17513" y="6635234"/>
            <a:ext cx="2461498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Multi-Modal Support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5817513" y="7045285"/>
            <a:ext cx="3635097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Handles both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image and video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inputs through a unified pipeline.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c7e64231c1124524">
            <a:extLst>
              <a:ext uri="{96DAC541-7B7A-43D3-8B79-37D633B846F1}">
                <asvg:svgBlip xmlns:asvg="http://schemas.microsoft.com/office/drawing/2016/SVG/main" r:embed="R433c735ef68d4f77"/>
              </a:ext>
            </a:extLst>
          </a:blip>
          <a:stretch>
            <a:fillRect/>
          </a:stretch>
        </p:blipFill>
        <p:spPr>
          <a:xfrm>
            <a:off x="9740027" y="6641366"/>
            <a:ext cx="295275" cy="2952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06050" y="6635234"/>
            <a:ext cx="2663190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User-Friendly Interface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10306050" y="7045285"/>
            <a:ext cx="3635097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Built on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Gradio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instant, no-code web deployment.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4074" y="808673"/>
            <a:ext cx="3565803" cy="44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64074" y="1534597"/>
            <a:ext cx="12302133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modern, open-source stack chosen for performance, compatibility, and ease of deployment.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bfde62b2293848c8"/>
          <a:stretch>
            <a:fillRect/>
          </a:stretch>
        </p:blipFill>
        <p:spPr>
          <a:xfrm>
            <a:off x="1164074" y="1946791"/>
            <a:ext cx="1295400" cy="1295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074" y="3417332"/>
            <a:ext cx="222861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Python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164074" y="3779996"/>
            <a:ext cx="2944178" cy="763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Core language for model development, preprocessing, and orchestration.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7e79e19a4b694be2"/>
          <a:stretch>
            <a:fillRect/>
          </a:stretch>
        </p:blipFill>
        <p:spPr>
          <a:xfrm>
            <a:off x="4283393" y="1946791"/>
            <a:ext cx="1295400" cy="1295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83393" y="3417332"/>
            <a:ext cx="222861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TensorFlow / Keras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283393" y="3779996"/>
            <a:ext cx="2944178" cy="763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Deep learning framework for building, training, and serving the CNN model.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8ca0dd1ed59a4576"/>
          <a:stretch>
            <a:fillRect/>
          </a:stretch>
        </p:blipFill>
        <p:spPr>
          <a:xfrm>
            <a:off x="7402711" y="1946791"/>
            <a:ext cx="1295400" cy="1295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02711" y="3417332"/>
            <a:ext cx="222861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MobileNetV2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402711" y="3779996"/>
            <a:ext cx="2944178" cy="763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Lightweight, efficient CNN architecture optimized for speed and accuracy.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b20110512680457f"/>
          <a:stretch>
            <a:fillRect/>
          </a:stretch>
        </p:blipFill>
        <p:spPr>
          <a:xfrm>
            <a:off x="10522029" y="1946791"/>
            <a:ext cx="1295400" cy="1295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22029" y="3417332"/>
            <a:ext cx="222861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OpenCV · NumPy · PIL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0522029" y="3779996"/>
            <a:ext cx="2944178" cy="763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Libraries for image loading, frame extraction, normalization, and augmentation.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37cbd7bde105404c"/>
          <a:stretch>
            <a:fillRect/>
          </a:stretch>
        </p:blipFill>
        <p:spPr>
          <a:xfrm>
            <a:off x="1164074" y="4823936"/>
            <a:ext cx="1295400" cy="12954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64074" y="6294477"/>
            <a:ext cx="222861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Gradio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1164074" y="6657142"/>
            <a:ext cx="2944178" cy="763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Rapid UI layer enabling interactive web-based inference without a custom frontend.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295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Workflow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6c1ef5f37bad403b"/>
          <a:stretch>
            <a:fillRect/>
          </a:stretch>
        </p:blipFill>
        <p:spPr>
          <a:xfrm>
            <a:off x="2243852" y="1813560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5815754a0fae4120">
            <a:extLst>
              <a:ext uri="{96DAC541-7B7A-43D3-8B79-37D633B846F1}">
                <asvg:svgBlip xmlns:asvg="http://schemas.microsoft.com/office/drawing/2016/SVG/main" r:embed="Rc08582d3a3964992"/>
              </a:ext>
            </a:extLst>
          </a:blip>
          <a:stretch>
            <a:fillRect/>
          </a:stretch>
        </p:blipFill>
        <p:spPr>
          <a:xfrm>
            <a:off x="10591188" y="2972545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353238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Output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5815754a0fae4120">
            <a:extLst>
              <a:ext uri="{96DAC541-7B7A-43D3-8B79-37D633B846F1}">
                <asvg:svgBlip xmlns:asvg="http://schemas.microsoft.com/office/drawing/2016/SVG/main" r:embed="R85ae5d9b4cd9478c"/>
              </a:ext>
            </a:extLst>
          </a:blip>
          <a:stretch>
            <a:fillRect/>
          </a:stretch>
        </p:blipFill>
        <p:spPr>
          <a:xfrm>
            <a:off x="8203771" y="2973768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353238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Prediction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5815754a0fae4120">
            <a:extLst>
              <a:ext uri="{96DAC541-7B7A-43D3-8B79-37D633B846F1}">
                <asvg:svgBlip xmlns:asvg="http://schemas.microsoft.com/office/drawing/2016/SVG/main" r:embed="Redc4ed6bdec64b92"/>
              </a:ext>
            </a:extLst>
          </a:blip>
          <a:stretch>
            <a:fillRect/>
          </a:stretch>
        </p:blipFill>
        <p:spPr>
          <a:xfrm>
            <a:off x="5816964" y="2973768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169825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Preprocessing</a:t>
            </a:r>
            <a:endParaRPr lang="en-US" sz="2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5815754a0fae4120">
            <a:extLst>
              <a:ext uri="{96DAC541-7B7A-43D3-8B79-37D633B846F1}">
                <asvg:svgBlip xmlns:asvg="http://schemas.microsoft.com/office/drawing/2016/SVG/main" r:embed="Rc9c5ad05ef6e4377"/>
              </a:ext>
            </a:extLst>
          </a:blip>
          <a:stretch>
            <a:fillRect/>
          </a:stretch>
        </p:blipFill>
        <p:spPr>
          <a:xfrm>
            <a:off x="3417115" y="2973768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353238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Input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671072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pipeline is designed for low-latency inference — from upload to verdict in seconds — making it suitable for real-time or near-real-time detection scenarios.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9637" y="465058"/>
            <a:ext cx="3162538" cy="395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Model Architecture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b6c59a98bbba4eb2"/>
          <a:stretch>
            <a:fillRect/>
          </a:stretch>
        </p:blipFill>
        <p:spPr>
          <a:xfrm>
            <a:off x="1859637" y="1149548"/>
            <a:ext cx="5262682" cy="526268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af1abf98861b4430"/>
          <a:stretch>
            <a:fillRect/>
          </a:stretch>
        </p:blipFill>
        <p:spPr>
          <a:xfrm>
            <a:off x="1859637" y="1149548"/>
            <a:ext cx="5262682" cy="52626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15701" y="3178373"/>
            <a:ext cx="1976557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Why MobileNetV2?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7515701" y="3535561"/>
            <a:ext cx="5262682" cy="85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MobileNetV2 uses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inverted residual blocks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depthwise separable convolutions, delivering high accuracy with significantly fewer parameters than traditional CNNs — ideal for deployment on resource-constrained hardware.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1859637" y="6660118"/>
            <a:ext cx="5400437" cy="1104424"/>
          </a:xfrm>
          <a:prstGeom prst="roundRect">
            <a:avLst>
              <a:gd name="adj" fmla="val 2148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40612" y="6841093"/>
            <a:ext cx="1976557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Binary Classification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2040612" y="7154227"/>
            <a:ext cx="5038487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Sigmoid activation outputs a probability between 0 (fake) and 1 (real).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370207" y="6660118"/>
            <a:ext cx="5400556" cy="1104424"/>
          </a:xfrm>
          <a:prstGeom prst="roundRect">
            <a:avLst>
              <a:gd name="adj" fmla="val 2148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51182" y="6841093"/>
            <a:ext cx="1976557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Transfer Learning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551182" y="7154227"/>
            <a:ext cx="5038606" cy="42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Pretrained weights accelerate convergence and improve generalization on limited deepfake datasets.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684c98a25d28442e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795945"/>
            <a:ext cx="2658308" cy="426244"/>
          </a:xfrm>
          <a:prstGeom prst="roundRect">
            <a:avLst>
              <a:gd name="adj" fmla="val 6386"/>
            </a:avLst>
          </a:prstGeom>
          <a:solidFill>
            <a:srgbClr val="2A2C20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2863929"/>
            <a:ext cx="23861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FYP PRESENTATION · PART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331291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Deepfake Image &amp; Video Analyzer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280190" y="50706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CNN · MobileNetV2 · Gradio Interface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821"/>
            <a:ext cx="6504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Image Detection Pipeline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e7052f7838684a78"/>
          <a:stretch>
            <a:fillRect/>
          </a:stretch>
        </p:blipFill>
        <p:spPr>
          <a:xfrm>
            <a:off x="1002625" y="2018228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52d3bf4fb37b4e09">
            <a:extLst>
              <a:ext uri="{96DAC541-7B7A-43D3-8B79-37D633B846F1}">
                <asvg:svgBlip xmlns:asvg="http://schemas.microsoft.com/office/drawing/2016/SVG/main" r:embed="Rab57a6d972df4efe"/>
              </a:ext>
            </a:extLst>
          </a:blip>
          <a:stretch>
            <a:fillRect/>
          </a:stretch>
        </p:blipFill>
        <p:spPr>
          <a:xfrm>
            <a:off x="11784546" y="3224954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Result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52d3bf4fb37b4e09">
            <a:extLst>
              <a:ext uri="{96DAC541-7B7A-43D3-8B79-37D633B846F1}">
                <asvg:svgBlip xmlns:asvg="http://schemas.microsoft.com/office/drawing/2016/SVG/main" r:embed="R2686c22ba93b427b"/>
              </a:ext>
            </a:extLst>
          </a:blip>
          <a:stretch>
            <a:fillRect/>
          </a:stretch>
        </p:blipFill>
        <p:spPr>
          <a:xfrm>
            <a:off x="9397120" y="3226177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Model Prediction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52d3bf4fb37b4e09">
            <a:extLst>
              <a:ext uri="{96DAC541-7B7A-43D3-8B79-37D633B846F1}">
                <asvg:svgBlip xmlns:asvg="http://schemas.microsoft.com/office/drawing/2016/SVG/main" r:embed="Re959eb85a85d4e45"/>
              </a:ext>
            </a:extLst>
          </a:blip>
          <a:stretch>
            <a:fillRect/>
          </a:stretch>
        </p:blipFill>
        <p:spPr>
          <a:xfrm>
            <a:off x="7010307" y="3226177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Normalize Pixels</a:t>
            </a:r>
            <a:endParaRPr lang="en-US" sz="2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52d3bf4fb37b4e09">
            <a:extLst>
              <a:ext uri="{96DAC541-7B7A-43D3-8B79-37D633B846F1}">
                <asvg:svgBlip xmlns:asvg="http://schemas.microsoft.com/office/drawing/2016/SVG/main" r:embed="R6073926fb4364839"/>
              </a:ext>
            </a:extLst>
          </a:blip>
          <a:stretch>
            <a:fillRect/>
          </a:stretch>
        </p:blipFill>
        <p:spPr>
          <a:xfrm>
            <a:off x="4623493" y="3226177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Resize 224×224</a:t>
            </a:r>
            <a:endParaRPr lang="en-US" sz="23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52d3bf4fb37b4e09">
            <a:extLst>
              <a:ext uri="{96DAC541-7B7A-43D3-8B79-37D633B846F1}">
                <asvg:svgBlip xmlns:asvg="http://schemas.microsoft.com/office/drawing/2016/SVG/main" r:embed="Rf3556d6788cc44e9"/>
              </a:ext>
            </a:extLst>
          </a:blip>
          <a:stretch>
            <a:fillRect/>
          </a:stretch>
        </p:blipFill>
        <p:spPr>
          <a:xfrm>
            <a:off x="2223636" y="3226177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Upload Image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793790" y="70108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Every uploaded image is preprocessed uniformly before MobileNetV2 returns a real-time deepfake classification.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666155"/>
            <a:ext cx="5608320" cy="668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Heatmap Visualization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f41e9be76a674821"/>
          <a:stretch>
            <a:fillRect/>
          </a:stretch>
        </p:blipFill>
        <p:spPr>
          <a:xfrm>
            <a:off x="748784" y="2269212"/>
            <a:ext cx="8353544" cy="4662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631918" y="1864281"/>
            <a:ext cx="4257199" cy="1689616"/>
          </a:xfrm>
          <a:prstGeom prst="roundRect">
            <a:avLst>
              <a:gd name="adj" fmla="val 8659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01438" y="1864281"/>
            <a:ext cx="121920" cy="1689616"/>
          </a:xfrm>
          <a:prstGeom prst="roundRect">
            <a:avLst>
              <a:gd name="adj" fmla="val 26323"/>
            </a:avLst>
          </a:prstGeom>
          <a:solidFill>
            <a:srgbClr val="9FA582"/>
          </a:solidFill>
          <a:ln/>
        </p:spPr>
      </p:sp>
      <p:sp>
        <p:nvSpPr>
          <p:cNvPr id="6" name="Text 3"/>
          <p:cNvSpPr/>
          <p:nvPr/>
        </p:nvSpPr>
        <p:spPr>
          <a:xfrm>
            <a:off x="9967674" y="2108597"/>
            <a:ext cx="2679978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Grayscale Conversion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967674" y="2644497"/>
            <a:ext cx="3677126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Input image converted to single-channel grayscale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9631918" y="3755588"/>
            <a:ext cx="4257199" cy="1689616"/>
          </a:xfrm>
          <a:prstGeom prst="roundRect">
            <a:avLst>
              <a:gd name="adj" fmla="val 8659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438" y="3755588"/>
            <a:ext cx="121920" cy="1689616"/>
          </a:xfrm>
          <a:prstGeom prst="roundRect">
            <a:avLst>
              <a:gd name="adj" fmla="val 26323"/>
            </a:avLst>
          </a:prstGeom>
          <a:solidFill>
            <a:srgbClr val="9FA582"/>
          </a:solidFill>
          <a:ln/>
        </p:spPr>
      </p:sp>
      <p:sp>
        <p:nvSpPr>
          <p:cNvPr id="10" name="Text 7"/>
          <p:cNvSpPr/>
          <p:nvPr/>
        </p:nvSpPr>
        <p:spPr>
          <a:xfrm>
            <a:off x="9967674" y="3999905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JET Colormap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967674" y="4535805"/>
            <a:ext cx="3677126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Heat intensity mapped to color spectrum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9631918" y="5646896"/>
            <a:ext cx="4257199" cy="1689616"/>
          </a:xfrm>
          <a:prstGeom prst="roundRect">
            <a:avLst>
              <a:gd name="adj" fmla="val 8659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1438" y="5646896"/>
            <a:ext cx="121920" cy="1689616"/>
          </a:xfrm>
          <a:prstGeom prst="roundRect">
            <a:avLst>
              <a:gd name="adj" fmla="val 26323"/>
            </a:avLst>
          </a:prstGeom>
          <a:solidFill>
            <a:srgbClr val="9FA582"/>
          </a:solidFill>
          <a:ln/>
        </p:spPr>
      </p:sp>
      <p:sp>
        <p:nvSpPr>
          <p:cNvPr id="14" name="Text 11"/>
          <p:cNvSpPr/>
          <p:nvPr/>
        </p:nvSpPr>
        <p:spPr>
          <a:xfrm>
            <a:off x="9967674" y="5891213"/>
            <a:ext cx="2674382" cy="334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Overlay Output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967674" y="6427113"/>
            <a:ext cx="3677126" cy="66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Highlights regions the model focuses on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3565"/>
            <a:ext cx="6391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Video Detection Pipeline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e1f740c1ffea4cae"/>
          <a:stretch>
            <a:fillRect/>
          </a:stretch>
        </p:blipFill>
        <p:spPr>
          <a:xfrm>
            <a:off x="2243852" y="2065973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1c2e06df91c84336">
            <a:extLst>
              <a:ext uri="{96DAC541-7B7A-43D3-8B79-37D633B846F1}">
                <asvg:svgBlip xmlns:asvg="http://schemas.microsoft.com/office/drawing/2016/SVG/main" r:embed="R59f6b968b90848bb"/>
              </a:ext>
            </a:extLst>
          </a:blip>
          <a:stretch>
            <a:fillRect/>
          </a:stretch>
        </p:blipFill>
        <p:spPr>
          <a:xfrm>
            <a:off x="10591188" y="3224958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Predict Each Frame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1c2e06df91c84336">
            <a:extLst>
              <a:ext uri="{96DAC541-7B7A-43D3-8B79-37D633B846F1}">
                <asvg:svgBlip xmlns:asvg="http://schemas.microsoft.com/office/drawing/2016/SVG/main" r:embed="R2129c437689c4f35"/>
              </a:ext>
            </a:extLst>
          </a:blip>
          <a:stretch>
            <a:fillRect/>
          </a:stretch>
        </p:blipFill>
        <p:spPr>
          <a:xfrm>
            <a:off x="8203771" y="3226180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Resize &amp; Normalize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1c2e06df91c84336">
            <a:extLst>
              <a:ext uri="{96DAC541-7B7A-43D3-8B79-37D633B846F1}">
                <asvg:svgBlip xmlns:asvg="http://schemas.microsoft.com/office/drawing/2016/SVG/main" r:embed="Rb82bf2e452ec4261"/>
              </a:ext>
            </a:extLst>
          </a:blip>
          <a:stretch>
            <a:fillRect/>
          </a:stretch>
        </p:blipFill>
        <p:spPr>
          <a:xfrm>
            <a:off x="5816964" y="3226180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Sample Every 10th</a:t>
            </a:r>
            <a:endParaRPr lang="en-US" sz="2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1c2e06df91c84336">
            <a:extLst>
              <a:ext uri="{96DAC541-7B7A-43D3-8B79-37D633B846F1}">
                <asvg:svgBlip xmlns:asvg="http://schemas.microsoft.com/office/drawing/2016/SVG/main" r:embed="Ree74f494e8034706"/>
              </a:ext>
            </a:extLst>
          </a:blip>
          <a:stretch>
            <a:fillRect/>
          </a:stretch>
        </p:blipFill>
        <p:spPr>
          <a:xfrm>
            <a:off x="3417115" y="3226180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605650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Upload Video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69631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Sparse frame sampling balances accuracy with computational efficiency for video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802029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Video Processing Logic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42abf960ccf749fe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46cbb8e056874b0e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5467" y="3467457"/>
            <a:ext cx="229385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Aggregation Strategy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5467" y="3899416"/>
            <a:ext cx="6074093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Frame-level predictions are aggregated into a single video-level verdict using mean confidence scoring.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45467" y="4591526"/>
            <a:ext cx="6074093" cy="942737"/>
          </a:xfrm>
          <a:prstGeom prst="roundRect">
            <a:avLst>
              <a:gd name="adj" fmla="val 2904"/>
            </a:avLst>
          </a:prstGeom>
          <a:solidFill>
            <a:srgbClr val="2A2C20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0c0f0a4fa2b04a1c"/>
          <a:stretch>
            <a:fillRect/>
          </a:stretch>
        </p:blipFill>
        <p:spPr>
          <a:xfrm>
            <a:off x="7727871" y="4850368"/>
            <a:ext cx="228124" cy="1824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8398" y="4783931"/>
            <a:ext cx="5298757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Sampling every 10th frame reduces redundancy while preserving temporal coverage.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3bdb17c677a6410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884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Video Output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37403"/>
            <a:ext cx="3664744" cy="1669852"/>
          </a:xfrm>
          <a:prstGeom prst="roundRect">
            <a:avLst>
              <a:gd name="adj" fmla="val 2038"/>
            </a:avLst>
          </a:prstGeom>
          <a:solidFill>
            <a:srgbClr val="3B3C3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Confidence Score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754636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Displayed per frame and aggregated for the full video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303740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3B3C3E"/>
          </a:solidFill>
          <a:ln/>
        </p:spPr>
      </p:sp>
      <p:sp>
        <p:nvSpPr>
          <p:cNvPr id="8" name="Text 5"/>
          <p:cNvSpPr/>
          <p:nvPr/>
        </p:nvSpPr>
        <p:spPr>
          <a:xfrm>
            <a:off x="4912162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Preview Video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37546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Generated output with annotated results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93406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B3C3E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160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Processed Frames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6513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Key sampled frames shown with classification labels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62843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 Interface — Gradio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0751d5caa26f49b9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446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Built with Gradio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027521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lightweight, interactive web UI requiring minimal setup.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38943" y="4008477"/>
            <a:ext cx="4205168" cy="2795349"/>
          </a:xfrm>
          <a:prstGeom prst="roundRect">
            <a:avLst>
              <a:gd name="adj" fmla="val 1217"/>
            </a:avLst>
          </a:prstGeom>
          <a:solidFill>
            <a:srgbClr val="3B3C3E"/>
          </a:solidFill>
          <a:ln/>
        </p:spPr>
      </p:sp>
      <p:sp>
        <p:nvSpPr>
          <p:cNvPr id="7" name="Shape 4"/>
          <p:cNvSpPr/>
          <p:nvPr/>
        </p:nvSpPr>
        <p:spPr>
          <a:xfrm>
            <a:off x="9638943" y="4008477"/>
            <a:ext cx="4205168" cy="1397675"/>
          </a:xfrm>
          <a:prstGeom prst="roundRect">
            <a:avLst>
              <a:gd name="adj" fmla="val 2434"/>
            </a:avLst>
          </a:prstGeom>
          <a:solidFill>
            <a:srgbClr val="3B3C3E"/>
          </a:solidFill>
          <a:ln/>
        </p:spPr>
      </p:sp>
      <p:sp>
        <p:nvSpPr>
          <p:cNvPr id="8" name="Text 5"/>
          <p:cNvSpPr/>
          <p:nvPr/>
        </p:nvSpPr>
        <p:spPr>
          <a:xfrm>
            <a:off x="9865757" y="42352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🖼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Image Detection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865757" y="4816435"/>
            <a:ext cx="37515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Upload &amp; classify single images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38943" y="5406152"/>
            <a:ext cx="4205168" cy="1397675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1" name="Shape 8"/>
          <p:cNvSpPr/>
          <p:nvPr/>
        </p:nvSpPr>
        <p:spPr>
          <a:xfrm>
            <a:off x="9638943" y="5406152"/>
            <a:ext cx="4205168" cy="30480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12" name="Text 9"/>
          <p:cNvSpPr/>
          <p:nvPr/>
        </p:nvSpPr>
        <p:spPr>
          <a:xfrm>
            <a:off x="9865757" y="5632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🎬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Video Detection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865757" y="6214110"/>
            <a:ext cx="37515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Upload &amp; analyze video files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0855"/>
            <a:ext cx="88000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Results, Advantages &amp; Limitations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129796"/>
            <a:ext cx="6571417" cy="3018949"/>
          </a:xfrm>
          <a:prstGeom prst="roundRect">
            <a:avLst>
              <a:gd name="adj" fmla="val 1127"/>
            </a:avLst>
          </a:prstGeom>
          <a:solidFill>
            <a:srgbClr val="9FA582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356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Advantages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937754"/>
            <a:ext cx="611778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Real-time predictions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Confidence scores per output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Visual heatmap outputs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Fast &amp; lightweight (MobileNetV2)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Simple, intuitive UI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356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⚠️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Limitations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937754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Performance tied to training data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Struggles with advanced GAN-based deepfakes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e76876cec70045fe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85305"/>
            <a:ext cx="66489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34245"/>
            <a:ext cx="7556421" cy="1730812"/>
          </a:xfrm>
          <a:prstGeom prst="roundRect">
            <a:avLst>
              <a:gd name="adj" fmla="val 196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27915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084" y="3281958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Deepfake detection is essential. This project demonstrates a practical, deployable AI solution using MobileNetV2.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491871"/>
            <a:ext cx="7556421" cy="2252305"/>
          </a:xfrm>
          <a:prstGeom prst="roundRect">
            <a:avLst>
              <a:gd name="adj" fmla="val 1511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084" y="47491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Future Roadmap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5239583"/>
            <a:ext cx="7041832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Improve accuracy with larger, diverse datasets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Real-time webcam detection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Web &amp; mobile deployment</a:t>
            </a:r>
            <a:endParaRPr lang="en-US" sz="1750" dirty="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/>
  <lastModifiedBy/>
  <revision>1</revision>
  <dcterms:created xsi:type="dcterms:W3CDTF">2026-04-08T17:30:46.0000000Z</dcterms:created>
  <dcterms:modified xsi:type="dcterms:W3CDTF">2026-04-08T17:35:21.9440000Z</dcterms:modified>
</coreProperties>
</file>